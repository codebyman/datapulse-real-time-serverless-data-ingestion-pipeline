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0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1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1320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75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534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3049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9668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485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987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054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9067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258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6553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5288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7452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953300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099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925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5525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941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2747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75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34060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  <p:sldLayoutId id="2147483816" r:id="rId12"/>
    <p:sldLayoutId id="2147483817" r:id="rId13"/>
    <p:sldLayoutId id="2147483818" r:id="rId14"/>
    <p:sldLayoutId id="2147483819" r:id="rId15"/>
    <p:sldLayoutId id="2147483820" r:id="rId16"/>
    <p:sldLayoutId id="2147483821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mailto:muhammadalinawaz.dev@gmail.com" TargetMode="External"/><Relationship Id="rId2" Type="http://schemas.openxmlformats.org/officeDocument/2006/relationships/hyperlink" Target="https://github.com/CodeByMan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linkedin.com/in/muhammad-ali-nawaz-362627338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A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sz="4000" b="1" dirty="0">
                <a:solidFill>
                  <a:srgbClr val="FFFFFF"/>
                </a:solidFill>
              </a:rPr>
              <a:t>Serverless Data Pipeline for Real-Time Ingestion &amp; Processing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FFFFFF"/>
                </a:solidFill>
              </a:rPr>
              <a:t>AWS-Based Automated System for Multisource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A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FFFFFF"/>
                </a:solidFill>
              </a:rP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rPr sz="2400" b="1">
                <a:solidFill>
                  <a:srgbClr val="FFFFFF"/>
                </a:solidFill>
              </a:rPr>
              <a:t>Real-time ingestion pipeline</a:t>
            </a:r>
          </a:p>
          <a:p>
            <a:r>
              <a:rPr sz="2400" b="1">
                <a:solidFill>
                  <a:srgbClr val="FFFFFF"/>
                </a:solidFill>
              </a:rPr>
              <a:t>Three data sources: Yahoo Finance, CoinMarketCap, Open Exchange Rates</a:t>
            </a:r>
          </a:p>
          <a:p>
            <a:r>
              <a:rPr sz="2400" b="1">
                <a:solidFill>
                  <a:srgbClr val="FFFFFF"/>
                </a:solidFill>
              </a:rPr>
              <a:t>Serverless architecture using AWS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A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FFFFFF"/>
                </a:solidFill>
              </a:rPr>
              <a:t>Data Sources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5514398"/>
              </p:ext>
            </p:extLst>
          </p:nvPr>
        </p:nvGraphicFramePr>
        <p:xfrm>
          <a:off x="456009" y="1902542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28700">
                <a:tc>
                  <a:txBody>
                    <a:bodyPr/>
                    <a:lstStyle/>
                    <a:p>
                      <a:r>
                        <a:t>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Data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Tech Used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r>
                        <a:t>Yahoo Finance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S&amp;P 500 OHLCV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yfinance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r>
                        <a:t>CoinMarketCap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Top 10 Cryptos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BeautifulSoup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r>
                        <a:t>Open Exchange Rates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Live Forex Rates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Request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A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FFFFFF"/>
                </a:solidFill>
              </a:rPr>
              <a:t>Architecture Overview</a:t>
            </a:r>
          </a:p>
        </p:txBody>
      </p:sp>
      <p:pic>
        <p:nvPicPr>
          <p:cNvPr id="9" name="Content Placeholder 8" descr="A diagram of a data pipeline&#10;&#10;AI-generated content may be incorrect.">
            <a:extLst>
              <a:ext uri="{FF2B5EF4-FFF2-40B4-BE49-F238E27FC236}">
                <a16:creationId xmlns:a16="http://schemas.microsoft.com/office/drawing/2014/main" id="{194DCD66-4735-8087-1AB7-5F4AE3634E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5663" y="2290550"/>
            <a:ext cx="7429500" cy="3459588"/>
          </a:xfr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A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0" y="952815"/>
            <a:ext cx="7429499" cy="1478570"/>
          </a:xfrm>
        </p:spPr>
        <p:txBody>
          <a:bodyPr/>
          <a:lstStyle/>
          <a:p>
            <a:r>
              <a:rPr sz="2400" b="1" dirty="0">
                <a:solidFill>
                  <a:srgbClr val="FFFFFF"/>
                </a:solidFill>
              </a:rPr>
              <a:t>Task 1 – Data Acquisition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6060" y="1934855"/>
            <a:ext cx="7429499" cy="3541714"/>
          </a:xfrm>
        </p:spPr>
        <p:txBody>
          <a:bodyPr/>
          <a:lstStyle/>
          <a:p>
            <a:endParaRPr dirty="0"/>
          </a:p>
          <a:p>
            <a:r>
              <a:rPr sz="2400" b="1" dirty="0">
                <a:solidFill>
                  <a:srgbClr val="FFFFFF"/>
                </a:solidFill>
              </a:rPr>
              <a:t>Triggered via </a:t>
            </a:r>
            <a:r>
              <a:rPr sz="2400" b="1" dirty="0" err="1">
                <a:solidFill>
                  <a:srgbClr val="FFFFFF"/>
                </a:solidFill>
              </a:rPr>
              <a:t>EventBridge</a:t>
            </a:r>
            <a:r>
              <a:rPr sz="2400" b="1" dirty="0">
                <a:solidFill>
                  <a:srgbClr val="FFFFFF"/>
                </a:solidFill>
              </a:rPr>
              <a:t> every minute</a:t>
            </a:r>
          </a:p>
          <a:p>
            <a:r>
              <a:rPr sz="2400" b="1" dirty="0">
                <a:solidFill>
                  <a:srgbClr val="FFFFFF"/>
                </a:solidFill>
              </a:rPr>
              <a:t>Lambda fetches data from </a:t>
            </a:r>
            <a:r>
              <a:rPr lang="en-US" sz="2400" b="1" dirty="0">
                <a:solidFill>
                  <a:srgbClr val="FFFFFF"/>
                </a:solidFill>
              </a:rPr>
              <a:t>their respective source</a:t>
            </a:r>
            <a:endParaRPr dirty="0"/>
          </a:p>
          <a:p>
            <a:r>
              <a:rPr sz="2400" b="1" dirty="0">
                <a:solidFill>
                  <a:srgbClr val="FFFFFF"/>
                </a:solidFill>
              </a:rPr>
              <a:t>Stores data in S3 bucket with folder structure:</a:t>
            </a:r>
          </a:p>
          <a:p>
            <a:r>
              <a:rPr sz="2400" b="1" dirty="0">
                <a:solidFill>
                  <a:srgbClr val="FFFFFF"/>
                </a:solidFill>
              </a:rPr>
              <a:t>raw/{source}/YYYY/MM/DD/HHMM.</a:t>
            </a:r>
            <a:r>
              <a:rPr lang="en-US" sz="2400" b="1" dirty="0">
                <a:solidFill>
                  <a:srgbClr val="FFFFFF"/>
                </a:solidFill>
              </a:rPr>
              <a:t>EXT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A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400" b="1">
                <a:solidFill>
                  <a:srgbClr val="FFFFFF"/>
                </a:solidFill>
              </a:rPr>
              <a:t>Lambda Function Details – Ingestion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934777"/>
              </p:ext>
            </p:extLst>
          </p:nvPr>
        </p:nvGraphicFramePr>
        <p:xfrm>
          <a:off x="535858" y="1755058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28700">
                <a:tc>
                  <a:txBody>
                    <a:bodyPr/>
                    <a:lstStyle/>
                    <a:p>
                      <a:r>
                        <a:t>Lambda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Output Path Format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r>
                        <a:t>lambda_yahoofinance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Yahoo Finance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raw/</a:t>
                      </a:r>
                      <a:r>
                        <a:rPr dirty="0" err="1"/>
                        <a:t>yahoofinance</a:t>
                      </a:r>
                      <a:r>
                        <a:rPr dirty="0"/>
                        <a:t>/YYYY/MM/DD/</a:t>
                      </a:r>
                      <a:r>
                        <a:rPr lang="en-US" dirty="0"/>
                        <a:t>HHMM.EXT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r>
                        <a:t>lambda_coinmarketcap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CoinMarketCap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raw/</a:t>
                      </a:r>
                      <a:r>
                        <a:rPr dirty="0" err="1"/>
                        <a:t>coinmarketcap</a:t>
                      </a:r>
                      <a:r>
                        <a:rPr dirty="0"/>
                        <a:t>/YYYY/MM/DD/</a:t>
                      </a:r>
                      <a:r>
                        <a:rPr lang="en-US" dirty="0"/>
                        <a:t>HHMM.EXT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r>
                        <a:t>lambda_exchangerates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Open Exchange Rates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raw/</a:t>
                      </a:r>
                      <a:r>
                        <a:rPr dirty="0" err="1"/>
                        <a:t>openexchangerates</a:t>
                      </a:r>
                      <a:r>
                        <a:rPr dirty="0"/>
                        <a:t>/YYYY/MM/DD/</a:t>
                      </a:r>
                      <a:r>
                        <a:rPr lang="en-US" dirty="0"/>
                        <a:t>HHMM.EXT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A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0" y="1110131"/>
            <a:ext cx="7429499" cy="1478570"/>
          </a:xfrm>
        </p:spPr>
        <p:txBody>
          <a:bodyPr/>
          <a:lstStyle/>
          <a:p>
            <a:r>
              <a:rPr sz="2400" b="1" dirty="0">
                <a:solidFill>
                  <a:srgbClr val="FFFFFF"/>
                </a:solidFill>
              </a:rPr>
              <a:t>Task 2 – S3 to 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6060" y="2097088"/>
            <a:ext cx="7429499" cy="3541714"/>
          </a:xfrm>
        </p:spPr>
        <p:txBody>
          <a:bodyPr/>
          <a:lstStyle/>
          <a:p>
            <a:endParaRPr dirty="0"/>
          </a:p>
          <a:p>
            <a:r>
              <a:rPr sz="2400" b="1" dirty="0">
                <a:solidFill>
                  <a:srgbClr val="FFFFFF"/>
                </a:solidFill>
              </a:rPr>
              <a:t>S3 triggers SNS on new object creation</a:t>
            </a:r>
          </a:p>
          <a:p>
            <a:r>
              <a:rPr sz="2400" b="1" dirty="0">
                <a:solidFill>
                  <a:srgbClr val="FFFFFF"/>
                </a:solidFill>
              </a:rPr>
              <a:t>SNS filters event using folder metadata</a:t>
            </a:r>
          </a:p>
          <a:p>
            <a:r>
              <a:rPr sz="2400" b="1" dirty="0">
                <a:solidFill>
                  <a:srgbClr val="FFFFFF"/>
                </a:solidFill>
              </a:rPr>
              <a:t>Routes to the appropriate SQS queue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A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FFFFFF"/>
                </a:solidFill>
              </a:rPr>
              <a:t>SQS Queues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3267208"/>
              </p:ext>
            </p:extLst>
          </p:nvPr>
        </p:nvGraphicFramePr>
        <p:xfrm>
          <a:off x="457200" y="1784555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28700">
                <a:tc>
                  <a:txBody>
                    <a:bodyPr/>
                    <a:lstStyle/>
                    <a:p>
                      <a:r>
                        <a:t>Queue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Data Source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r>
                        <a:rPr dirty="0"/>
                        <a:t>yahoo-finance-queue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Yahoo Finance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r>
                        <a:rPr dirty="0" err="1"/>
                        <a:t>coinmarketcap</a:t>
                      </a:r>
                      <a:r>
                        <a:rPr dirty="0"/>
                        <a:t>-queue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CoinMarketCap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r>
                        <a:rPr dirty="0" err="1"/>
                        <a:t>openexchangerates</a:t>
                      </a:r>
                      <a:r>
                        <a:rPr dirty="0"/>
                        <a:t>-queue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Open Exchange Rates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A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400" b="1">
                <a:solidFill>
                  <a:srgbClr val="FFFFFF"/>
                </a:solidFill>
              </a:rPr>
              <a:t>Lambda Function Details – Processing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2808950"/>
              </p:ext>
            </p:extLst>
          </p:nvPr>
        </p:nvGraphicFramePr>
        <p:xfrm>
          <a:off x="457200" y="1725561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28700">
                <a:tc>
                  <a:txBody>
                    <a:bodyPr/>
                    <a:lstStyle/>
                    <a:p>
                      <a:r>
                        <a:t>Lambda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Destination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r>
                        <a:t>process_yahoofinance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Parse OHLCV → Load to Snowflake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Snowflake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r>
                        <a:t>process_coinmarketcap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Transform &amp; Store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r>
                        <a:rPr dirty="0" err="1"/>
                        <a:t>process_exchangerates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Parse &amp; Insert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SQL Server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A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4886" y="1031473"/>
            <a:ext cx="7429499" cy="1478570"/>
          </a:xfrm>
        </p:spPr>
        <p:txBody>
          <a:bodyPr/>
          <a:lstStyle/>
          <a:p>
            <a:r>
              <a:rPr sz="2400" b="1" dirty="0">
                <a:solidFill>
                  <a:srgbClr val="FFFFFF"/>
                </a:solidFill>
              </a:rPr>
              <a:t>Lambda Layers &amp; Packages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4885" y="2121667"/>
            <a:ext cx="7429499" cy="3541714"/>
          </a:xfrm>
        </p:spPr>
        <p:txBody>
          <a:bodyPr/>
          <a:lstStyle/>
          <a:p>
            <a:endParaRPr dirty="0"/>
          </a:p>
          <a:p>
            <a:r>
              <a:rPr sz="2400" b="1" dirty="0" err="1">
                <a:solidFill>
                  <a:srgbClr val="FFFFFF"/>
                </a:solidFill>
              </a:rPr>
              <a:t>pyodbc</a:t>
            </a:r>
            <a:r>
              <a:rPr sz="2400" b="1" dirty="0">
                <a:solidFill>
                  <a:srgbClr val="FFFFFF"/>
                </a:solidFill>
              </a:rPr>
              <a:t> – SQL Server connection</a:t>
            </a:r>
          </a:p>
          <a:p>
            <a:r>
              <a:rPr sz="2400" b="1" dirty="0">
                <a:solidFill>
                  <a:srgbClr val="FFFFFF"/>
                </a:solidFill>
              </a:rPr>
              <a:t>snowflake-connector-python – Snowflake integration</a:t>
            </a:r>
          </a:p>
          <a:p>
            <a:r>
              <a:rPr sz="2400" b="1" dirty="0">
                <a:solidFill>
                  <a:srgbClr val="FFFFFF"/>
                </a:solidFill>
              </a:rPr>
              <a:t>pandas – Data transformation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A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FFFFFF"/>
                </a:solidFill>
              </a:rPr>
              <a:t>Output Destinations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7948931"/>
              </p:ext>
            </p:extLst>
          </p:nvPr>
        </p:nvGraphicFramePr>
        <p:xfrm>
          <a:off x="457200" y="176489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28700">
                <a:tc>
                  <a:txBody>
                    <a:bodyPr/>
                    <a:lstStyle/>
                    <a:p>
                      <a:r>
                        <a:t>Destination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Path/Integration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r>
                        <a:t>Snowflake DW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Yahoo Finance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Direct insert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r>
                        <a:t>S3 Processed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CoinMarketCap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/processed/coinmarketcap/YYYY/MM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r>
                        <a:t>SQL 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Open Exchange Rates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 err="1"/>
                        <a:t>pyodbc</a:t>
                      </a:r>
                      <a:r>
                        <a:rPr dirty="0"/>
                        <a:t> insert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A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9" y="1218286"/>
            <a:ext cx="7429499" cy="1478570"/>
          </a:xfrm>
        </p:spPr>
        <p:txBody>
          <a:bodyPr/>
          <a:lstStyle/>
          <a:p>
            <a:r>
              <a:rPr sz="2400" b="1" dirty="0">
                <a:solidFill>
                  <a:srgbClr val="FFFFFF"/>
                </a:solidFill>
              </a:rPr>
              <a:t>Benefits of This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rPr sz="2400" b="1">
                <a:solidFill>
                  <a:srgbClr val="FFFFFF"/>
                </a:solidFill>
              </a:rPr>
              <a:t>Serverless and cost-effective</a:t>
            </a:r>
          </a:p>
          <a:p>
            <a:r>
              <a:rPr sz="2400" b="1">
                <a:solidFill>
                  <a:srgbClr val="FFFFFF"/>
                </a:solidFill>
              </a:rPr>
              <a:t>Scalable and real-time ready</a:t>
            </a:r>
          </a:p>
          <a:p>
            <a:r>
              <a:rPr sz="2400" b="1">
                <a:solidFill>
                  <a:srgbClr val="FFFFFF"/>
                </a:solidFill>
              </a:rPr>
              <a:t>Fully decoupled and modular</a:t>
            </a:r>
          </a:p>
          <a:p>
            <a:r>
              <a:rPr sz="2400" b="1">
                <a:solidFill>
                  <a:srgbClr val="FFFFFF"/>
                </a:solidFill>
              </a:rPr>
              <a:t>Handles cloud and local destinations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A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0265" y="5067157"/>
            <a:ext cx="1847811" cy="964476"/>
          </a:xfrm>
        </p:spPr>
        <p:txBody>
          <a:bodyPr/>
          <a:lstStyle/>
          <a:p>
            <a:r>
              <a:rPr sz="2400" b="1" dirty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4215" y="1384248"/>
            <a:ext cx="7429499" cy="3541714"/>
          </a:xfrm>
        </p:spPr>
        <p:txBody>
          <a:bodyPr/>
          <a:lstStyle/>
          <a:p>
            <a:endParaRPr dirty="0"/>
          </a:p>
          <a:p>
            <a:r>
              <a:rPr sz="2400" b="1" dirty="0">
                <a:solidFill>
                  <a:srgbClr val="FFFFFF"/>
                </a:solidFill>
              </a:rPr>
              <a:t>Any Questions?</a:t>
            </a:r>
          </a:p>
          <a:p>
            <a:r>
              <a:rPr sz="2400" b="1" dirty="0">
                <a:solidFill>
                  <a:srgbClr val="FFFFFF"/>
                </a:solidFill>
              </a:rPr>
              <a:t>GitHub: </a:t>
            </a:r>
            <a:r>
              <a:rPr lang="en-US" sz="2400" b="1" dirty="0" err="1" smtClean="0">
                <a:solidFill>
                  <a:srgbClr val="FFFFFF"/>
                </a:solidFill>
                <a:hlinkClick r:id="rId2"/>
              </a:rPr>
              <a:t>CodeByMan</a:t>
            </a:r>
            <a:endParaRPr lang="en-US" sz="2400" b="1" dirty="0" smtClean="0">
              <a:solidFill>
                <a:srgbClr val="FFFFFF"/>
              </a:solidFill>
            </a:endParaRPr>
          </a:p>
          <a:p>
            <a:r>
              <a:rPr sz="2400" b="1" dirty="0" smtClean="0">
                <a:solidFill>
                  <a:srgbClr val="FFFFFF"/>
                </a:solidFill>
              </a:rPr>
              <a:t>Email</a:t>
            </a:r>
            <a:r>
              <a:rPr sz="2400" b="1" dirty="0">
                <a:solidFill>
                  <a:srgbClr val="FFFFFF"/>
                </a:solidFill>
              </a:rPr>
              <a:t>: </a:t>
            </a:r>
            <a:r>
              <a:rPr lang="en-US" sz="2400" b="1" dirty="0" smtClean="0">
                <a:solidFill>
                  <a:srgbClr val="FFFFFF"/>
                </a:solidFill>
                <a:hlinkClick r:id="rId3"/>
              </a:rPr>
              <a:t>muhammadalinawaz.dev@gmail.com</a:t>
            </a:r>
            <a:endParaRPr lang="en-US" dirty="0" smtClean="0"/>
          </a:p>
          <a:p>
            <a:r>
              <a:rPr lang="en-US" sz="2400" b="1" dirty="0" err="1" smtClean="0">
                <a:solidFill>
                  <a:srgbClr val="FFFFFF"/>
                </a:solidFill>
              </a:rPr>
              <a:t>Linkedin</a:t>
            </a:r>
            <a:r>
              <a:rPr lang="en-US" sz="2400" b="1" dirty="0">
                <a:solidFill>
                  <a:srgbClr val="FFFFFF"/>
                </a:solidFill>
              </a:rPr>
              <a:t>: </a:t>
            </a:r>
            <a:r>
              <a:rPr lang="en-US" sz="2400" b="1" dirty="0" smtClean="0">
                <a:solidFill>
                  <a:srgbClr val="FFFFFF"/>
                </a:solidFill>
                <a:hlinkClick r:id="rId4"/>
              </a:rPr>
              <a:t>muhammad-ali-nawaz-362627338/</a:t>
            </a:r>
            <a:endParaRPr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8D1E14"/>
      </a:dk2>
      <a:lt2>
        <a:srgbClr val="FF744E"/>
      </a:lt2>
      <a:accent1>
        <a:srgbClr val="E9B758"/>
      </a:accent1>
      <a:accent2>
        <a:srgbClr val="FE8943"/>
      </a:accent2>
      <a:accent3>
        <a:srgbClr val="AEA27C"/>
      </a:accent3>
      <a:accent4>
        <a:srgbClr val="90B46E"/>
      </a:accent4>
      <a:accent5>
        <a:srgbClr val="71AEC1"/>
      </a:accent5>
      <a:accent6>
        <a:srgbClr val="C98DE7"/>
      </a:accent6>
      <a:hlink>
        <a:srgbClr val="FF7A22"/>
      </a:hlink>
      <a:folHlink>
        <a:srgbClr val="FDCD86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88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82000"/>
                <a:satMod val="150000"/>
                <a:lumMod val="15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971C58-AB76-4A2A-B231-5F8CA03CF49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33</TotalTime>
  <Words>263</Words>
  <Application>Microsoft Office PowerPoint</Application>
  <PresentationFormat>On-screen Show (4:3)</PresentationFormat>
  <Paragraphs>97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Trebuchet MS</vt:lpstr>
      <vt:lpstr>Tw Cen MT</vt:lpstr>
      <vt:lpstr>Circuit</vt:lpstr>
      <vt:lpstr>Serverless Data Pipeline for Real-Time Ingestion &amp; Processing</vt:lpstr>
      <vt:lpstr>Project Overview</vt:lpstr>
      <vt:lpstr>Data Sources</vt:lpstr>
      <vt:lpstr>Architecture Overview</vt:lpstr>
      <vt:lpstr>Task 1 – Data Acquisition</vt:lpstr>
      <vt:lpstr>Lambda Function Details – Ingestion</vt:lpstr>
      <vt:lpstr>Task 2 – S3 to Processing</vt:lpstr>
      <vt:lpstr>SQS Queues</vt:lpstr>
      <vt:lpstr>Lambda Function Details – Processing</vt:lpstr>
      <vt:lpstr>Lambda Layers &amp; Packages</vt:lpstr>
      <vt:lpstr>Output Destinations</vt:lpstr>
      <vt:lpstr>Benefits of This Architecture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Serverless Data Pipeline for Real-Time Ingestion &amp; Processing</dc:title>
  <dc:subject/>
  <dc:creator/>
  <cp:keywords/>
  <dc:description>generated using python-pptx</dc:description>
  <cp:lastModifiedBy>Work</cp:lastModifiedBy>
  <cp:revision>20</cp:revision>
  <dcterms:created xsi:type="dcterms:W3CDTF">2013-01-27T09:14:16Z</dcterms:created>
  <dcterms:modified xsi:type="dcterms:W3CDTF">2026-07-07T12:39:16Z</dcterms:modified>
  <cp:category/>
</cp:coreProperties>
</file>